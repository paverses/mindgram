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df0731da-4cca-d407-85bb-b4b2a966f599}">
          <p14:sldIdLst>
            <p14:sldId id="256"/>
            <p14:sldId id="257"/>
            <p14:sldId id="258"/>
          </p14:sldIdLst>
        </p14:section>
        <p14:section name="Характеристика" id="{e8ad192a-c670-1041-3a98-1bb0bbf6362a}">
          <p14:sldIdLst>
            <p14:sldId id="259"/>
            <p14:sldId id="260"/>
            <p14:sldId id="261"/>
            <p14:sldId id="262"/>
          </p14:sldIdLst>
        </p14:section>
        <p14:section name="Получение и применение" id="{7556483c-0478-b513-a207-9adebd8cba3d}">
          <p14:sldIdLst>
            <p14:sldId id="263"/>
            <p14:sldId id="264"/>
            <p14:sldId id="265"/>
          </p14:sldIdLst>
        </p14:section>
        <p14:section name="Итоги" id="{4189fb5f-944b-df2c-8ee9-64fb4b6e755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455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4558"/>
                </a:solidFill>
                <a:latin typeface="+mn-lt"/>
              </a:rPr>
              <a:t>Структура потребления, % (ориентировочно)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898F"/>
              </a:solidFill>
              <a:ln w="25400" cap="flat">
                <a:solidFill>
                  <a:srgbClr val="EAF0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9A441"/>
              </a:solidFill>
              <a:ln w="25400" cap="flat">
                <a:solidFill>
                  <a:srgbClr val="EAF0F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E6A8A"/>
              </a:solidFill>
              <a:ln w="25400" cap="flat">
                <a:solidFill>
                  <a:srgbClr val="EAF0F4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B8CAD6"/>
              </a:solidFill>
              <a:ln w="25400" cap="flat">
                <a:solidFill>
                  <a:srgbClr val="EAF0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Оцинкование</c:v>
                </c:pt>
                <c:pt idx="1">
                  <c:v>Латунь и бронза</c:v>
                </c:pt>
                <c:pt idx="2">
                  <c:v>Цинковые сплавы</c:v>
                </c:pt>
                <c:pt idx="3">
                  <c:v>Химия, ZnO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17</c:v>
                </c:pt>
                <c:pt idx="2">
                  <c:v>17</c:v>
                </c:pt>
                <c:pt idx="3">
                  <c:v>16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45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Тема: цинк. Выполнил Карпов Дмитрий Михайлович, группа 26-ИО-129.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всесторонне изучить цинк.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задачи: строение, физические свойства, химические свойства, получение и применение.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Цинк — d-элемент IIB группы четвёртого периода. Конфигурация 3d10 4s2, в соединениях степень окисления +2.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 — от немецкого Zink. Главная руда — сфалерит ZnS.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Голубовато-белый металл, при обычной температуре хрупкий, при 100–150 °C ковкий и пластичный.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Цинк — активный металл-восстановитель. Реагирует и с кислотами, и со щелочами, поэтому амфотерный.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Руду обогащают, обжигают до оксида, растворяют в серной кислоте и выделяют цинк электролизом.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Больше всего цинка идёт на оцинкование стали. Диаграмма показывает ориентировочную структуру потребления.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Цинк — микроэлемент, необходимый для работы многих ферментов.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Итоги: цинк — амфотерный металл-восстановитель, получают обжигом и электролизом, широко применяют.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640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ЦИНК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Химия · презентация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Карпов Дмитрий Михайлович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26-ИО-129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Преподаватель: Екатерина Николаевна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ГАПОУ ЧР «Новочебоксарский химико-механический техникум»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Новочебоксарск, 2026</a:t>
            </a:r>
            <a:endParaRPr lang="en-US" sz="1200" dirty="0"/>
          </a:p>
        </p:txBody>
      </p:sp>
      <p:sp>
        <p:nvSpPr>
          <p:cNvPr id="6" name="Element tile"/>
          <p:cNvSpPr/>
          <p:nvPr/>
        </p:nvSpPr>
        <p:spPr>
          <a:xfrm>
            <a:off x="6400800" y="1005840"/>
            <a:ext cx="2194560" cy="256032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65,38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3200" dirty="0"/>
          </a:p>
        </p:txBody>
      </p:sp>
      <p:sp>
        <p:nvSpPr>
          <p:cNvPr id="3" name="Goal card"/>
          <p:cNvSpPr/>
          <p:nvPr/>
        </p:nvSpPr>
        <p:spPr>
          <a:xfrm>
            <a:off x="548640" y="1371600"/>
            <a:ext cx="804672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148840"/>
            <a:ext cx="1280160" cy="128016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5" name="Image 0" descr="Fa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68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173736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Изучить цинк как химический элемент и как простое вещество: свойства, получение, применение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</a:t>
            </a:r>
            <a:endParaRPr lang="en-US" sz="3200" dirty="0"/>
          </a:p>
        </p:txBody>
      </p:sp>
      <p:sp>
        <p:nvSpPr>
          <p:cNvPr id="3" name="Task card 1"/>
          <p:cNvSpPr/>
          <p:nvPr/>
        </p:nvSpPr>
        <p:spPr>
          <a:xfrm>
            <a:off x="548640" y="137160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4128" y="169164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5" name="Image 0" descr="FaAt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Положение в таблице и строение атома</a:t>
            </a:r>
            <a:endParaRPr lang="en-US" sz="1400" dirty="0"/>
          </a:p>
        </p:txBody>
      </p:sp>
      <p:sp>
        <p:nvSpPr>
          <p:cNvPr id="8" name="Task card 2"/>
          <p:cNvSpPr/>
          <p:nvPr/>
        </p:nvSpPr>
        <p:spPr>
          <a:xfrm>
            <a:off x="2606040" y="137160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081528" y="169164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10" name="Image 1" descr="FaThermometerHal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Физические свойства</a:t>
            </a:r>
            <a:endParaRPr lang="en-US" sz="1400" dirty="0"/>
          </a:p>
        </p:txBody>
      </p:sp>
      <p:sp>
        <p:nvSpPr>
          <p:cNvPr id="13" name="Task card 3"/>
          <p:cNvSpPr/>
          <p:nvPr/>
        </p:nvSpPr>
        <p:spPr>
          <a:xfrm>
            <a:off x="4663440" y="137160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138928" y="169164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15" name="Image 2" descr="FaFla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920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Химические свойства</a:t>
            </a:r>
            <a:endParaRPr lang="en-US" sz="1400" dirty="0"/>
          </a:p>
        </p:txBody>
      </p:sp>
      <p:sp>
        <p:nvSpPr>
          <p:cNvPr id="18" name="Task card 4"/>
          <p:cNvSpPr/>
          <p:nvPr/>
        </p:nvSpPr>
        <p:spPr>
          <a:xfrm>
            <a:off x="6720840" y="137160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96328" y="169164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20" name="Image 3" descr="FaIndust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9202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20840" y="2743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32004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Получение и применение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Общая характеристика</a:t>
            </a:r>
            <a:endParaRPr lang="en-US" sz="3200" dirty="0"/>
          </a:p>
        </p:txBody>
      </p:sp>
      <p:sp>
        <p:nvSpPr>
          <p:cNvPr id="3" name="Atom card"/>
          <p:cNvSpPr/>
          <p:nvPr/>
        </p:nvSpPr>
        <p:spPr>
          <a:xfrm>
            <a:off x="548640" y="1234440"/>
            <a:ext cx="3474720" cy="342900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Модель атома цинка: 2, 8, 18, 2 электрон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3200400" cy="2926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 · 8 · 18 · 2</a:t>
            </a:r>
            <a:endParaRPr lang="en-US" sz="1400" dirty="0"/>
          </a:p>
        </p:txBody>
      </p:sp>
      <p:sp>
        <p:nvSpPr>
          <p:cNvPr id="6" name="Fact tile 1"/>
          <p:cNvSpPr/>
          <p:nvPr/>
        </p:nvSpPr>
        <p:spPr>
          <a:xfrm>
            <a:off x="4251960" y="1234440"/>
            <a:ext cx="2148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251960" y="1325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8928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символ</a:t>
            </a:r>
            <a:endParaRPr lang="en-US" sz="1200" dirty="0"/>
          </a:p>
        </p:txBody>
      </p:sp>
      <p:sp>
        <p:nvSpPr>
          <p:cNvPr id="9" name="Fact tile 2"/>
          <p:cNvSpPr/>
          <p:nvPr/>
        </p:nvSpPr>
        <p:spPr>
          <a:xfrm>
            <a:off x="6537960" y="1234440"/>
            <a:ext cx="2148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37960" y="1325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18928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порядковый номер</a:t>
            </a:r>
            <a:endParaRPr lang="en-US" sz="1200" dirty="0"/>
          </a:p>
        </p:txBody>
      </p:sp>
      <p:sp>
        <p:nvSpPr>
          <p:cNvPr id="12" name="Fact tile 3"/>
          <p:cNvSpPr/>
          <p:nvPr/>
        </p:nvSpPr>
        <p:spPr>
          <a:xfrm>
            <a:off x="4251960" y="2423160"/>
            <a:ext cx="2148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251960" y="2514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65,38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251960" y="3081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атомная масса</a:t>
            </a:r>
            <a:endParaRPr lang="en-US" sz="1200" dirty="0"/>
          </a:p>
        </p:txBody>
      </p:sp>
      <p:sp>
        <p:nvSpPr>
          <p:cNvPr id="15" name="Fact tile 4"/>
          <p:cNvSpPr/>
          <p:nvPr/>
        </p:nvSpPr>
        <p:spPr>
          <a:xfrm>
            <a:off x="6537960" y="2423160"/>
            <a:ext cx="2148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37960" y="2514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IIB · 4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3081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группа · период</a:t>
            </a:r>
            <a:endParaRPr lang="en-US" sz="1200" dirty="0"/>
          </a:p>
        </p:txBody>
      </p:sp>
      <p:sp>
        <p:nvSpPr>
          <p:cNvPr id="18" name="Fact tile 5"/>
          <p:cNvSpPr/>
          <p:nvPr/>
        </p:nvSpPr>
        <p:spPr>
          <a:xfrm>
            <a:off x="4251960" y="3611880"/>
            <a:ext cx="2148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251960" y="3703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3d¹⁰4s²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4251960" y="4270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конфигурация</a:t>
            </a:r>
            <a:endParaRPr lang="en-US" sz="1200" dirty="0"/>
          </a:p>
        </p:txBody>
      </p:sp>
      <p:sp>
        <p:nvSpPr>
          <p:cNvPr id="21" name="Fact tile 6"/>
          <p:cNvSpPr/>
          <p:nvPr/>
        </p:nvSpPr>
        <p:spPr>
          <a:xfrm>
            <a:off x="6537960" y="3611880"/>
            <a:ext cx="2148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537960" y="3703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4270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степень окисления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природе и история</a:t>
            </a:r>
            <a:endParaRPr lang="en-US" sz="3200" dirty="0"/>
          </a:p>
        </p:txBody>
      </p:sp>
      <p:sp>
        <p:nvSpPr>
          <p:cNvPr id="3" name="Nature card 1"/>
          <p:cNvSpPr/>
          <p:nvPr/>
        </p:nvSpPr>
        <p:spPr>
          <a:xfrm>
            <a:off x="5486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64592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5" name="Image 0" descr="FaMount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сфалерит — главная цинковая руда</a:t>
            </a:r>
            <a:endParaRPr lang="en-US" sz="1400" dirty="0"/>
          </a:p>
        </p:txBody>
      </p:sp>
      <p:sp>
        <p:nvSpPr>
          <p:cNvPr id="8" name="Nature card 2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0" y="164592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10" name="Image 1" descr="FaGlobeEur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9184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0,008 %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содержание в земной коре</a:t>
            </a:r>
            <a:endParaRPr lang="en-US" sz="1400" dirty="0"/>
          </a:p>
        </p:txBody>
      </p:sp>
      <p:sp>
        <p:nvSpPr>
          <p:cNvPr id="13" name="Nature card 3"/>
          <p:cNvSpPr/>
          <p:nvPr/>
        </p:nvSpPr>
        <p:spPr>
          <a:xfrm>
            <a:off x="60350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0" y="164592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15" name="Image 2" descr="FaFla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3504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1746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А. Маргграф выделил чистый цинк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Физические свойства</a:t>
            </a:r>
            <a:endParaRPr lang="en-US" sz="3200" dirty="0"/>
          </a:p>
        </p:txBody>
      </p:sp>
      <p:sp>
        <p:nvSpPr>
          <p:cNvPr id="3" name="Lattice card"/>
          <p:cNvSpPr/>
          <p:nvPr/>
        </p:nvSpPr>
        <p:spPr>
          <a:xfrm>
            <a:off x="548640" y="1234440"/>
            <a:ext cx="3474720" cy="342900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Гексагональная плотнейшая упаковк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3108960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51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гексагональная решётка</a:t>
            </a:r>
            <a:endParaRPr lang="en-US" sz="1400" dirty="0"/>
          </a:p>
        </p:txBody>
      </p:sp>
      <p:sp>
        <p:nvSpPr>
          <p:cNvPr id="6" name="Property 1"/>
          <p:cNvSpPr/>
          <p:nvPr/>
        </p:nvSpPr>
        <p:spPr>
          <a:xfrm>
            <a:off x="4251960" y="1234440"/>
            <a:ext cx="44348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434840" y="1234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419,5 °C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234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температура плавления</a:t>
            </a:r>
            <a:endParaRPr lang="en-US" sz="1400" dirty="0"/>
          </a:p>
        </p:txBody>
      </p:sp>
      <p:sp>
        <p:nvSpPr>
          <p:cNvPr id="9" name="Property 2"/>
          <p:cNvSpPr/>
          <p:nvPr/>
        </p:nvSpPr>
        <p:spPr>
          <a:xfrm>
            <a:off x="4251960" y="2240280"/>
            <a:ext cx="44348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434840" y="22402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907 °C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240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температура кипения</a:t>
            </a:r>
            <a:endParaRPr lang="en-US" sz="1400" dirty="0"/>
          </a:p>
        </p:txBody>
      </p:sp>
      <p:sp>
        <p:nvSpPr>
          <p:cNvPr id="12" name="Property 3"/>
          <p:cNvSpPr/>
          <p:nvPr/>
        </p:nvSpPr>
        <p:spPr>
          <a:xfrm>
            <a:off x="4251960" y="3246120"/>
            <a:ext cx="44348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434840" y="3246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7,13 г/см³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246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плотность</a:t>
            </a:r>
            <a:endParaRPr lang="en-US" sz="1400" dirty="0"/>
          </a:p>
        </p:txBody>
      </p:sp>
      <p:sp>
        <p:nvSpPr>
          <p:cNvPr id="15" name="Appearance pill"/>
          <p:cNvSpPr/>
          <p:nvPr/>
        </p:nvSpPr>
        <p:spPr>
          <a:xfrm>
            <a:off x="4251960" y="4251960"/>
            <a:ext cx="44348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51960" y="42519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голубовато-белый · хрупкий · пластичен при 100–150 °C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Химические свойства</a:t>
            </a:r>
            <a:endParaRPr lang="en-US" sz="3200" dirty="0"/>
          </a:p>
        </p:txBody>
      </p:sp>
      <p:sp>
        <p:nvSpPr>
          <p:cNvPr id="3" name="Reaction card 1"/>
          <p:cNvSpPr/>
          <p:nvPr/>
        </p:nvSpPr>
        <p:spPr>
          <a:xfrm>
            <a:off x="548640" y="123444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 кислородом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2Zn + O₂ = 2ZnO</a:t>
            </a:r>
            <a:endParaRPr lang="en-US" sz="1600" dirty="0"/>
          </a:p>
        </p:txBody>
      </p:sp>
      <p:sp>
        <p:nvSpPr>
          <p:cNvPr id="6" name="Reaction card 2"/>
          <p:cNvSpPr/>
          <p:nvPr/>
        </p:nvSpPr>
        <p:spPr>
          <a:xfrm>
            <a:off x="4663440" y="123444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 кислотами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Zn + 2HCl = ZnCl₂ + H₂↑</a:t>
            </a:r>
            <a:endParaRPr lang="en-US" sz="1600" dirty="0"/>
          </a:p>
        </p:txBody>
      </p:sp>
      <p:sp>
        <p:nvSpPr>
          <p:cNvPr id="9" name="Reaction card 3"/>
          <p:cNvSpPr/>
          <p:nvPr/>
        </p:nvSpPr>
        <p:spPr>
          <a:xfrm>
            <a:off x="548640" y="269748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со щелочами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Zn + 2NaOH + 2H₂O = Na₂[Zn(OH)₄] + H₂↑</a:t>
            </a:r>
            <a:endParaRPr lang="en-US" sz="1600" dirty="0"/>
          </a:p>
        </p:txBody>
      </p:sp>
      <p:sp>
        <p:nvSpPr>
          <p:cNvPr id="12" name="Reaction card 4"/>
          <p:cNvSpPr/>
          <p:nvPr/>
        </p:nvSpPr>
        <p:spPr>
          <a:xfrm>
            <a:off x="4663440" y="269748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9204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 серой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154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Zn + S = ZnS</a:t>
            </a:r>
            <a:endParaRPr lang="en-US" sz="1600" dirty="0"/>
          </a:p>
        </p:txBody>
      </p:sp>
      <p:sp>
        <p:nvSpPr>
          <p:cNvPr id="15" name="Summary pill"/>
          <p:cNvSpPr/>
          <p:nvPr/>
        </p:nvSpPr>
        <p:spPr>
          <a:xfrm>
            <a:off x="548640" y="4251960"/>
            <a:ext cx="80467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Zn⁰ − 2e⁻ → Zn²⁺  ·  восстановитель  ·  амфотерный металл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Получение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71600"/>
            <a:ext cx="1828800" cy="2834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60020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5" name="Image 0" descr="FaMount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Руда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0632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обогащение сфалерита ZnS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 rot="5400000">
            <a:off x="2423160" y="2697480"/>
            <a:ext cx="182880" cy="1828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9" name="Step card 2"/>
          <p:cNvSpPr/>
          <p:nvPr/>
        </p:nvSpPr>
        <p:spPr>
          <a:xfrm>
            <a:off x="2624328" y="1371600"/>
            <a:ext cx="1828800" cy="2834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81528" y="160020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11" name="Image 1" descr="FaFi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24328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Обжиг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34056" y="30632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2ZnS + 3O₂ = 2ZnO + 2SO₂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 rot="5400000">
            <a:off x="4498848" y="2697480"/>
            <a:ext cx="182880" cy="1828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5" name="Step card 3"/>
          <p:cNvSpPr/>
          <p:nvPr/>
        </p:nvSpPr>
        <p:spPr>
          <a:xfrm>
            <a:off x="4700016" y="1371600"/>
            <a:ext cx="1828800" cy="2834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57216" y="160020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17" name="Image 2" descr="FaTi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828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00016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Растворение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09744" y="30632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ZnO + H₂SO₄ = ZnSO₄ + H₂O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 rot="5400000">
            <a:off x="6574536" y="2697480"/>
            <a:ext cx="182880" cy="1828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21" name="Step card 4"/>
          <p:cNvSpPr/>
          <p:nvPr/>
        </p:nvSpPr>
        <p:spPr>
          <a:xfrm>
            <a:off x="6775704" y="1371600"/>
            <a:ext cx="1828800" cy="283464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232904" y="1600200"/>
            <a:ext cx="914400" cy="91440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23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18288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75704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Электролиз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885432" y="30632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2ZnSO₄ + 2H₂O = 2Zn + O₂ + 2H₂SO₄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Основной промышленный способ — электролиз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Применение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39319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Use row 1"/>
          <p:cNvSpPr/>
          <p:nvPr/>
        </p:nvSpPr>
        <p:spPr>
          <a:xfrm>
            <a:off x="4663440" y="1234440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800600" y="1335024"/>
            <a:ext cx="548640" cy="54864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6" name="Image 0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7218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532120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Оцинкование стали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532120" y="16367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защита от коррозии</a:t>
            </a:r>
            <a:endParaRPr lang="en-US" sz="1200" dirty="0"/>
          </a:p>
        </p:txBody>
      </p:sp>
      <p:sp>
        <p:nvSpPr>
          <p:cNvPr id="9" name="Use row 2"/>
          <p:cNvSpPr/>
          <p:nvPr/>
        </p:nvSpPr>
        <p:spPr>
          <a:xfrm>
            <a:off x="4663440" y="2121408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800600" y="2221992"/>
            <a:ext cx="548640" cy="54864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11" name="Image 1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5915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32120" y="21945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Латунь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532120" y="25237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сплав меди и цинка</a:t>
            </a:r>
            <a:endParaRPr lang="en-US" sz="1200" dirty="0"/>
          </a:p>
        </p:txBody>
      </p:sp>
      <p:sp>
        <p:nvSpPr>
          <p:cNvPr id="14" name="Use row 3"/>
          <p:cNvSpPr/>
          <p:nvPr/>
        </p:nvSpPr>
        <p:spPr>
          <a:xfrm>
            <a:off x="4663440" y="3008376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00600" y="3108960"/>
            <a:ext cx="548640" cy="54864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16" name="Image 2" descr="FaBatteryHal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461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32120" y="3081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Батарейки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532120" y="3410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цинковый электрод</a:t>
            </a:r>
            <a:endParaRPr lang="en-US" sz="1200" dirty="0"/>
          </a:p>
        </p:txBody>
      </p:sp>
      <p:sp>
        <p:nvSpPr>
          <p:cNvPr id="19" name="Use row 4"/>
          <p:cNvSpPr/>
          <p:nvPr/>
        </p:nvSpPr>
        <p:spPr>
          <a:xfrm>
            <a:off x="4663440" y="3895344"/>
            <a:ext cx="40233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800600" y="3995928"/>
            <a:ext cx="548640" cy="548640"/>
          </a:xfrm>
          <a:prstGeom prst="ellipse">
            <a:avLst/>
          </a:prstGeom>
          <a:solidFill>
            <a:srgbClr val="12898F"/>
          </a:solidFill>
          <a:ln/>
        </p:spPr>
      </p:sp>
      <p:pic>
        <p:nvPicPr>
          <p:cNvPr id="21" name="Image 3" descr="FaFla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13308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532120" y="39684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Оксид цинка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532120" y="4297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резина, косметика, медицина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Цинк и человек</a:t>
            </a:r>
            <a:endParaRPr lang="en-US" sz="3200" dirty="0"/>
          </a:p>
        </p:txBody>
      </p:sp>
      <p:sp>
        <p:nvSpPr>
          <p:cNvPr id="3" name="Bio card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 г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цинка в теле взрослого</a:t>
            </a:r>
            <a:endParaRPr lang="en-US" sz="1400" dirty="0"/>
          </a:p>
        </p:txBody>
      </p:sp>
      <p:sp>
        <p:nvSpPr>
          <p:cNvPr id="6" name="Bio card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91840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ферментов с участием цинка</a:t>
            </a:r>
            <a:endParaRPr lang="en-US" sz="1400" dirty="0"/>
          </a:p>
        </p:txBody>
      </p:sp>
      <p:sp>
        <p:nvSpPr>
          <p:cNvPr id="9" name="Bio card 3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35040" y="1691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8–11 мг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суточная потребность</a:t>
            </a:r>
            <a:endParaRPr lang="en-US" sz="1400" dirty="0"/>
          </a:p>
        </p:txBody>
      </p:sp>
      <p:sp>
        <p:nvSpPr>
          <p:cNvPr id="12" name="Bio pill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иммунитет · кожа · рост · вкус и обоняние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E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3" name="Conclusion row 1"/>
          <p:cNvSpPr/>
          <p:nvPr/>
        </p:nvSpPr>
        <p:spPr>
          <a:xfrm>
            <a:off x="548640" y="146304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63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Цинк — d-элемент IIB группы, амфотерный металл</a:t>
            </a:r>
            <a:endParaRPr lang="en-US" sz="1800" dirty="0"/>
          </a:p>
        </p:txBody>
      </p:sp>
      <p:sp>
        <p:nvSpPr>
          <p:cNvPr id="7" name="Conclusion row 2"/>
          <p:cNvSpPr/>
          <p:nvPr/>
        </p:nvSpPr>
        <p:spPr>
          <a:xfrm>
            <a:off x="548640" y="256032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743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560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Свойства определяют применение: защита стали, сплавы, ZnO</a:t>
            </a:r>
            <a:endParaRPr lang="en-US" sz="1800" dirty="0"/>
          </a:p>
        </p:txBody>
      </p:sp>
      <p:sp>
        <p:nvSpPr>
          <p:cNvPr id="11" name="Conclusion row 3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57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Получают из сульфидных руд: обжиг и электролиз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1887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Вопросы?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Карпов Дмитрий Михайлович · 26-ИО-129</a:t>
            </a:r>
            <a:endParaRPr lang="en-US" sz="1400" dirty="0"/>
          </a:p>
        </p:txBody>
      </p:sp>
      <p:sp>
        <p:nvSpPr>
          <p:cNvPr id="5" name="Element tile"/>
          <p:cNvSpPr/>
          <p:nvPr/>
        </p:nvSpPr>
        <p:spPr>
          <a:xfrm>
            <a:off x="6400800" y="1005840"/>
            <a:ext cx="2194560" cy="256032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097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65,38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inc">
  <a:themeElements>
    <a:clrScheme name="Zinc">
      <a:dk1>
        <a:srgbClr val="0F1E2A"/>
      </a:dk1>
      <a:lt1>
        <a:srgbClr val="FFFFFF"/>
      </a:lt1>
      <a:dk2>
        <a:srgbClr val="2B4558"/>
      </a:dk2>
      <a:lt2>
        <a:srgbClr val="EAF0F4"/>
      </a:lt2>
      <a:accent1>
        <a:srgbClr val="12898F"/>
      </a:accent1>
      <a:accent2>
        <a:srgbClr val="5FD6CB"/>
      </a:accent2>
      <a:accent3>
        <a:srgbClr val="D9A441"/>
      </a:accent3>
      <a:accent4>
        <a:srgbClr val="6C8EA4"/>
      </a:accent4>
      <a:accent5>
        <a:srgbClr val="3E6A8A"/>
      </a:accent5>
      <a:accent6>
        <a:srgbClr val="B8CAD6"/>
      </a:accent6>
      <a:hlink>
        <a:srgbClr val="12898F"/>
      </a:hlink>
      <a:folHlink>
        <a:srgbClr val="6C8EA4"/>
      </a:folHlink>
    </a:clrScheme>
    <a:fontScheme name="Zin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Цинк</dc:title>
  <dc:subject>PptxGenJS Presentation</dc:subject>
  <dc:creator>Карпов Дмитрий Михайлович</dc:creator>
  <cp:lastModifiedBy>Карпов Дмитрий Михайлович</cp:lastModifiedBy>
  <cp:revision>1</cp:revision>
  <dcterms:created xsi:type="dcterms:W3CDTF">2026-10-20T18:40:16Z</dcterms:created>
  <dcterms:modified xsi:type="dcterms:W3CDTF">2026-10-20T18:40:16Z</dcterms:modified>
</cp:coreProperties>
</file>